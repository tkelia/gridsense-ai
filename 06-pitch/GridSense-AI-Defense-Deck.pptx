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0F17"/>
                </a:solidFill>
              </a:rPr>
              <a:t>Months to payback — 100 kWh home 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Core monitor</c:v>
                </c:pt>
              </c:strCache>
            </c:strRef>
          </c:tx>
          <c:spPr>
            <a:solidFill>
              <a:srgbClr val="34D39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10% savings</c:v>
                </c:pt>
                <c:pt idx="1">
                  <c:v>15% savings</c:v>
                </c:pt>
                <c:pt idx="2">
                  <c:v>20% savings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13.6</c:v>
                </c:pt>
                <c:pt idx="1">
                  <c:v>9.1</c:v>
                </c:pt>
                <c:pt idx="2">
                  <c:v>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kit</c:v>
                </c:pt>
              </c:strCache>
            </c:strRef>
          </c:tx>
          <c:spPr>
            <a:solidFill>
              <a:srgbClr val="38BDF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10% savings</c:v>
                </c:pt>
                <c:pt idx="1">
                  <c:v>15% savings</c:v>
                </c:pt>
                <c:pt idx="2">
                  <c:v>20% savings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23.0</c:v>
                </c:pt>
                <c:pt idx="1">
                  <c:v>15.6</c:v>
                </c:pt>
                <c:pt idx="2">
                  <c:v>11.7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0B0F1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B0F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0B0F17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0B0F17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confidence. 'Rwandans just got a more expensive, tiered electricity bill — and almost no way to see it coming. GridSense AI fixes that.' The tagline is the whole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them feel it. The tiered cliff is the pain. A home creeping one kWh over a threshold pays 3.5x more on the marginal unit and has no idea. This invisibility is what we sell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rigor slide that wins points. We confronted the weakness (half of homes can't save meaningfully) and it reshaped targeting. Pre-empts the panel's #1 question: who actually pays, and does the math work?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Cheap, safe, self-installable. CT = whole-home picture; plugs = 'which appliance?'. The intelligence is the localization and the tariff-aware AI, not exotic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GridSense isn't just a home gadget — it's a platform. After sign-in you pick a workspace. The same exact tariff engine serves a single home, a landlord with many tenants, and an enterprise. Landlords are the clearest paying wedge.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monetizable headline. Tenants constantly dispute power charges; GridSense shows the exact math, generates the invoice, sends it, and schedules the reminders. One buyer (the landlord), many meters, recurring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Pricing is indicative and labelled as such. Home is free to drive adoption and data; revenue comes from landlords and enterprise plus the device add-on. Checkout is a real premium flow but charges nothing in demo — integration-ready, never faked.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LIVE DEMO HERE — open the Vercel URL. Walk Live Now, trigger the tier-cliff alert, show This Month forecast, Appliances, Save. SWITCH TO KINYARWANDA LIVE — it lands. Say out loud: 'sensor data is simulated and labelled; the tariff math and appliance model are real and sourced.' Honesty is a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Pre-empts 'is the AI real?'. Honest scoping is a defense, not a weakness. A panel respects a clear roadmap over an over-claim it can puncture.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Pre-empts 'did you really build hardware?'. Hardware is off-the-shelf and proven; our innovation is localization + tariff-aware AI + GTM. The real ingestion contract makes the demo a genuine product slice, not a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priced locally in RWF, not off a foreign catalogue — the most defensible, conservative basis (bulk import would be cheaper). 93% of the kit is live-sourced; the small remainder is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Bills computed straight from the verified RURA tiers (tested in code: 100→29,530, 150→47,980, 200→66,430). Payback under 12 months for tier-crossers proves the beachhead economically. The savings % is a labelled assumption — see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Landlords are arguably the best wedge — one buyer, many meters, a billing-dispute pain point. SMEs have a clear ROI line. Mass-market is impact, not the paying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tech exists — we don't pretend to out-engineer Sense. We win on the wedge they ignore: a tariff-aware, Kinyarwanda, affordably-serviced product for Rwanda.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Pre-empts 'will it mess with the meter?' and 'what about privacy?'. We verified the rule rather than assuming, and built compliance in from day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rung needs only the proof from the one below — never a big upfront ask. Hanga is the #1 target (2026 call not yet published — we're prototype-ready and watching).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Clear, staged, honest. Each phase unlocks the next as data and funding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the gaps WITH mitigations beats pretending there are none. This is the slide that earns trust. Be calm and direct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mission and a concrete ask — Tesi's strength. Land it with conviction. Thank the panel; invite questions. You're ready (appendix).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show this unless asked — it's your cheat sheet. Each answer maps to a slide you can jump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7" y="132588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06324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1F5F9"/>
                </a:solidFill>
                <a:latin typeface="Segoe UI"/>
              </a:rPr>
              <a:t>GridSense AI</a:t>
            </a:r>
          </a:p>
          <a:p>
            <a:pPr algn="ctr"/>
            <a:r>
              <a:rPr sz="1800" b="0" i="1">
                <a:solidFill>
                  <a:srgbClr val="34D399"/>
                </a:solidFill>
                <a:latin typeface="Segoe UI"/>
              </a:rPr>
              <a:t>See your power. Spend less.</a:t>
            </a:r>
          </a:p>
          <a:p>
            <a:pPr algn="ctr"/>
            <a:r>
              <a:rPr sz="1400" b="0" i="0">
                <a:solidFill>
                  <a:srgbClr val="F1F5F9"/>
                </a:solidFill>
                <a:latin typeface="Segoe UI"/>
              </a:rPr>
              <a:t>An energy-intelligence platform for Rwanda — homes · landlords · enterprises</a:t>
            </a:r>
          </a:p>
          <a:p>
            <a:pPr algn="ctr"/>
            <a:r>
              <a:rPr sz="1400" b="1" i="0">
                <a:solidFill>
                  <a:srgbClr val="22D3EE"/>
                </a:solidFill>
                <a:latin typeface="Segoe UI"/>
              </a:rPr>
              <a:t>https://gridsense-ai-zeta.vercel.app</a:t>
            </a:r>
          </a:p>
          <a:p>
            <a:pPr algn="ctr">
              <a:spcBef>
                <a:spcPts val="1400"/>
              </a:spcBef>
            </a:pPr>
            <a:r>
              <a:rPr sz="1300" b="0" i="0">
                <a:solidFill>
                  <a:srgbClr val="94A3B8"/>
                </a:solidFill>
                <a:latin typeface="Segoe UI"/>
              </a:rPr>
              <a:t>Tesi Songa Kelia  ·  BSc Software Engineering  ·  African Leadership University, Kigali</a:t>
            </a:r>
          </a:p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Capstone Defense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The problem</a:t>
            </a:r>
          </a:p>
          <a:p>
            <a:r>
              <a:rPr sz="1300" b="0" i="1">
                <a:solidFill>
                  <a:srgbClr val="34D399"/>
                </a:solidFill>
                <a:latin typeface="Segoe UI"/>
              </a:rPr>
              <a:t>You can't manage what you can't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Oct 2025: residential power became steeply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tiered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—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89 → 310 → 369 RWF/kWh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. Average tariff up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~15%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Households pay via prepaid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"cash power"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— they see a falling balance, not which appliance drains it.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No warning when a home crosses from a cheap tier into an expensive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069080"/>
            <a:ext cx="21945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0F17"/>
                </a:solidFill>
                <a:latin typeface="Segoe UI"/>
              </a:rPr>
              <a:t>89 RWF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39" y="4069080"/>
            <a:ext cx="2487168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0F17"/>
                </a:solidFill>
                <a:latin typeface="Segoe UI"/>
              </a:rPr>
              <a:t>310 RWF</a:t>
            </a:r>
          </a:p>
        </p:txBody>
      </p:sp>
      <p:sp>
        <p:nvSpPr>
          <p:cNvPr id="7" name="Rectangle 6"/>
          <p:cNvSpPr/>
          <p:nvPr/>
        </p:nvSpPr>
        <p:spPr>
          <a:xfrm>
            <a:off x="5550408" y="4069080"/>
            <a:ext cx="2633472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B0F17"/>
                </a:solidFill>
                <a:latin typeface="Segoe UI"/>
              </a:rPr>
              <a:t>369 RWF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0–20 kWh        20–50 kWh              above 50 kWh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F1F5F9"/>
                </a:solidFill>
                <a:latin typeface="Segoe UI"/>
              </a:rPr>
              <a:t>Creep from 20 → 21 kWh and the marginal unit costs </a:t>
            </a:r>
            <a:r>
              <a:rPr sz="1600" b="1" i="0">
                <a:solidFill>
                  <a:srgbClr val="FBBF24"/>
                </a:solidFill>
                <a:latin typeface="Segoe UI"/>
              </a:rPr>
              <a:t>3.5× more</a:t>
            </a:r>
            <a:r>
              <a:rPr sz="1600" b="0" i="0">
                <a:solidFill>
                  <a:srgbClr val="F1F5F9"/>
                </a:solidFill>
                <a:latin typeface="Segoe UI"/>
              </a:rPr>
              <a:t> — with zero visibility into why.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01-research §1 — REG tariffs, RURA press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The insight that reshaped our strategy</a:t>
            </a:r>
          </a:p>
          <a:p>
            <a:r>
              <a:rPr sz="1300" b="0" i="1">
                <a:solidFill>
                  <a:srgbClr val="34D399"/>
                </a:solidFill>
                <a:latin typeface="Segoe UI"/>
              </a:rPr>
              <a:t>We confront the brutal truth instead of hiding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~50%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of connected homes use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≤ 20 kWh/month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(the 89 RWF lifeline). A 20% saving there ≈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356 RWF (~$0.25)/mo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. No one buys a device for that.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The money — and willingness to pay — is with homes, landlords &amp; SMEs that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cross into the 310 &amp; 369 RWF tiers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So we don't target "every household." We target the tier-crossers.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01-research §3; 02-strategy §A, §D1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A low-cost kit: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whole-home CT clamp + ESP32 (Wi-Fi)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for real-time total use &amp; live RWF cost,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plus energy-metering smart plugs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for the biggest appliances.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A simple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web app + tariff-aware AI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: live cost, bill forecast,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tier-cliff alerts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, and specific savings advice.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Localized: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RWF, Rwanda's real tiers, Kinyarwanda-ready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DIRECTION.md; 02-strategy §D2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One platform — three customers</a:t>
            </a:r>
          </a:p>
          <a:p>
            <a:r>
              <a:rPr sz="1300" b="0" i="1">
                <a:solidFill>
                  <a:srgbClr val="34D399"/>
                </a:solidFill>
                <a:latin typeface="Segoe UI"/>
              </a:rPr>
              <a:t>Same verified tariff engine powers all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Home (free):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a household sees its own live cost, tier-cliff alerts &amp; personalized savings.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Landlord / Property: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manage many units &amp; tenants —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exact per-tenant bills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, invoices, reminders, get paid on time.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Enterprise: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hotels &amp; large compounds — many properties, teams, exports, connected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Live: choose a workspace after sign-in · 05-build (workspace.tsx)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Landlords: bill fairly, get paid on time</a:t>
            </a:r>
          </a:p>
          <a:p>
            <a:r>
              <a:rPr sz="1300" b="0" i="1">
                <a:solidFill>
                  <a:srgbClr val="34D399"/>
                </a:solidFill>
                <a:latin typeface="Segoe UI"/>
              </a:rPr>
              <a:t>The feature that ends "I don't know how I'm charged"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Add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properties → units → tenants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(name, phone, email) + meter readings.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Exact amount due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per tenant from the real tariff — with billing period and due date.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One tap: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Invoice / Receipt / Consumption Report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(printable) →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send via WhatsApp / SMS / email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Payment reminders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as a calendar (.ics): 5 / 3 / 2 / 1 days before, the morning of, and 12:00 on the due day.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Transparent, itemized charges that respect tenant privacy (Law 058/2021).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Live: Properties workspace · 05-build (landlord.tsx, Documents.tsx, billing.ts)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Plans &amp; pricing</a:t>
            </a:r>
          </a:p>
          <a:p>
            <a:r>
              <a:rPr sz="1300" b="0" i="1">
                <a:solidFill>
                  <a:srgbClr val="34D399"/>
                </a:solidFill>
                <a:latin typeface="Segoe UI"/>
              </a:rPr>
              <a:t>Individuals free for adoption; landlords &amp; enterprise pay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645920"/>
          <a:ext cx="1042416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420624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34D399"/>
                          </a:solidFill>
                          <a:latin typeface="Segoe UI"/>
                        </a:rPr>
                        <a:t>Plan</a:t>
                      </a:r>
                    </a:p>
                  </a:txBody>
                  <a:tcPr marL="109728" marR="91440" marT="45720" marB="45720" anchor="ctr">
                    <a:solidFill>
                      <a:srgbClr val="161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34D399"/>
                          </a:solidFill>
                          <a:latin typeface="Segoe UI"/>
                        </a:rPr>
                        <a:t>Price (indicative)</a:t>
                      </a:r>
                    </a:p>
                  </a:txBody>
                  <a:tcPr marL="109728" marR="91440" marT="45720" marB="45720" anchor="ctr">
                    <a:solidFill>
                      <a:srgbClr val="161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34D399"/>
                          </a:solidFill>
                          <a:latin typeface="Segoe UI"/>
                        </a:rPr>
                        <a:t>For</a:t>
                      </a:r>
                    </a:p>
                  </a:txBody>
                  <a:tcPr marL="109728" marR="91440" marT="45720" marB="45720" anchor="ctr">
                    <a:solidFill>
                      <a:srgbClr val="161C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Home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Free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A single household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Landlord — Starter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~RWF 9,900/mo  (≤5 units)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Small landlords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Landlord — Growth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~RWF 29,000/mo  (≤20 units)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Growing portfolios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Enterprise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from ~RWF 150,000/mo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Hotels, estates, teams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Device add-on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kit 40,100–69,100 + ~2,500/device/mo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Automatic live data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1F5F9"/>
                </a:solidFill>
                <a:latin typeface="Segoe UI"/>
              </a:rPr>
              <a:t>Premium checkout + cart are live; </a:t>
            </a:r>
            <a:r>
              <a:rPr sz="1300" b="1" i="0">
                <a:solidFill>
                  <a:srgbClr val="34D399"/>
                </a:solidFill>
                <a:latin typeface="Segoe UI"/>
              </a:rPr>
              <a:t>demo mode charges no card</a:t>
            </a:r>
            <a:r>
              <a:rPr sz="1300" b="0" i="0">
                <a:solidFill>
                  <a:srgbClr val="F1F5F9"/>
                </a:solidFill>
                <a:latin typeface="Segoe UI"/>
              </a:rPr>
              <a:t> and is payment-provider-ready (MTN MoMo / Flutterwave / Stripe).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Indicative pricing — 02-strategy/platform-expansion.md 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Live demo</a:t>
            </a:r>
          </a:p>
          <a:p>
            <a:r>
              <a:rPr sz="1300" b="0" i="1">
                <a:solidFill>
                  <a:srgbClr val="34D399"/>
                </a:solidFill>
                <a:latin typeface="Segoe UI"/>
              </a:rPr>
              <a:t>English &amp; Kinyarwanda — same app, one toggle</a:t>
            </a:r>
          </a:p>
        </p:txBody>
      </p:sp>
      <p:pic>
        <p:nvPicPr>
          <p:cNvPr id="4" name="Picture 3" descr="gridsense-live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12" y="1371600"/>
            <a:ext cx="5080000" cy="4572000"/>
          </a:xfrm>
          <a:prstGeom prst="rect">
            <a:avLst/>
          </a:prstGeom>
        </p:spPr>
      </p:pic>
      <p:pic>
        <p:nvPicPr>
          <p:cNvPr id="5" name="Picture 4" descr="gridsense-rw-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172" y="1371600"/>
            <a:ext cx="469111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1F5F9"/>
                </a:solidFill>
                <a:latin typeface="Segoe UI"/>
              </a:rPr>
              <a:t>4 screens — Live Now · This Month · Appliances · Save.   </a:t>
            </a:r>
            <a:r>
              <a:rPr sz="1300" b="1" i="0">
                <a:solidFill>
                  <a:srgbClr val="34D399"/>
                </a:solidFill>
                <a:latin typeface="Segoe UI"/>
              </a:rPr>
              <a:t>Sensor data is simulated &amp; labelled; the tariff math is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Built &amp; tested: 9 unit + 5 e2e tests · Lighthouse 100/100/100/100 · 05-build/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Is the "AI" real? — told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Now: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tariff-aware analytics (kWh → live RWF across real tiers) +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rule-based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recommendations + run-rate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forecasting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Next: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ML bill forecasting + anomaly detection ("your fridge is drawing 30% more than usual").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Later: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appliance disaggregation (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NILM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) as data grows.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We never claim NILM we haven't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02-strategy §D3 — visible in the Save screen +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How it works — and why it's buildable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Non-invasive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CT clamp on the main feed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;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ESP32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reads current and uploads over Wi-Fi.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Built on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proven open-source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designs (ESP32 + SCT-013 + EmonLib; CircuitSetup).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015" y="3611880"/>
            <a:ext cx="2194560" cy="123444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1F5F9"/>
                </a:solidFill>
                <a:latin typeface="Segoe UI"/>
              </a:rPr>
              <a:t>Sensors</a:t>
            </a:r>
          </a:p>
          <a:p>
            <a:pPr algn="ctr"/>
            <a:r>
              <a:rPr sz="1050" b="0" i="0">
                <a:solidFill>
                  <a:srgbClr val="94A3B8"/>
                </a:solidFill>
                <a:latin typeface="Segoe UI"/>
              </a:rPr>
              <a:t>CT clamp + smart plugs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2879" y="4037076"/>
            <a:ext cx="457200" cy="384048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6383" y="3611880"/>
            <a:ext cx="2194560" cy="123444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1F5F9"/>
                </a:solidFill>
                <a:latin typeface="Segoe UI"/>
              </a:rPr>
              <a:t>ESP32</a:t>
            </a:r>
          </a:p>
          <a:p>
            <a:pPr algn="ctr"/>
            <a:r>
              <a:rPr sz="1050" b="0" i="0">
                <a:solidFill>
                  <a:srgbClr val="94A3B8"/>
                </a:solidFill>
                <a:latin typeface="Segoe UI"/>
              </a:rPr>
              <a:t>reads current · Wi-Fi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7247" y="4037076"/>
            <a:ext cx="457200" cy="384048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70751" y="3611880"/>
            <a:ext cx="2194560" cy="123444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1F5F9"/>
                </a:solidFill>
                <a:latin typeface="Segoe UI"/>
              </a:rPr>
              <a:t>Cloud</a:t>
            </a:r>
          </a:p>
          <a:p>
            <a:pPr algn="ctr"/>
            <a:r>
              <a:rPr sz="1050" b="0" i="0">
                <a:solidFill>
                  <a:srgbClr val="94A3B8"/>
                </a:solidFill>
                <a:latin typeface="Segoe UI"/>
              </a:rPr>
              <a:t>/api/ingest (JSON)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11615" y="4037076"/>
            <a:ext cx="457200" cy="384048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15119" y="3611880"/>
            <a:ext cx="2194560" cy="1234440"/>
          </a:xfrm>
          <a:prstGeom prst="roundRect">
            <a:avLst/>
          </a:prstGeom>
          <a:solidFill>
            <a:srgbClr val="161C2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1F5F9"/>
                </a:solidFill>
                <a:latin typeface="Segoe UI"/>
              </a:rPr>
              <a:t>Dashboard</a:t>
            </a:r>
          </a:p>
          <a:p>
            <a:pPr algn="ctr"/>
            <a:r>
              <a:rPr sz="1050" b="0" i="0">
                <a:solidFill>
                  <a:srgbClr val="94A3B8"/>
                </a:solidFill>
                <a:latin typeface="Segoe UI"/>
              </a:rPr>
              <a:t>+ tariff-aware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663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The simulated demo emits the </a:t>
            </a:r>
            <a:r>
              <a:rPr sz="1300" b="1" i="0">
                <a:solidFill>
                  <a:srgbClr val="34D399"/>
                </a:solidFill>
                <a:latin typeface="Segoe UI"/>
              </a:rPr>
              <a:t>same JSON contract</a:t>
            </a:r>
            <a:r>
              <a:rPr sz="1300" b="0" i="0">
                <a:solidFill>
                  <a:srgbClr val="94A3B8"/>
                </a:solidFill>
                <a:latin typeface="Segoe UI"/>
              </a:rPr>
              <a:t> — real hardware swaps in with a one-line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01-research §5; 05-build/dashboard-build-plan.md, src/lib/types.ts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Feasibility &amp; cost — sourced, in RWF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600200"/>
          <a:ext cx="10424160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0"/>
                <a:gridCol w="310896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34D399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109728" marR="91440" marT="45720" marB="45720" anchor="ctr">
                    <a:solidFill>
                      <a:srgbClr val="161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34D399"/>
                          </a:solidFill>
                          <a:latin typeface="Segoe UI"/>
                        </a:rPr>
                        <a:t>Local price (RWF)</a:t>
                      </a:r>
                    </a:p>
                  </a:txBody>
                  <a:tcPr marL="109728" marR="91440" marT="45720" marB="45720" anchor="ctr">
                    <a:solidFill>
                      <a:srgbClr val="161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34D399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109728" marR="91440" marT="45720" marB="45720" anchor="ctr">
                    <a:solidFill>
                      <a:srgbClr val="161C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ESP32 dev board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15,500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SoftTech Supply (Kigali)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SCT-013-100 CT clamp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12,000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SoftTech Supply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Metering smart plug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14,500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SoftTech Supply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PSU + wiring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7,600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SoftTech Supply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Whole-home monitor (entry SKU)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~40,100  (~$27)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core unit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Full kit (+2 plugs)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~69,100  (~$47)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1F5F9"/>
                          </a:solidFill>
                          <a:latin typeface="Segoe UI"/>
                        </a:rPr>
                        <a:t>1 USD ≈ 1,464 RWF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04-business/capex-opex.md §1 — priced from live Kigali retailers (taxes embedded)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Unit economics &amp; payback — the math is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F1F5F9"/>
                </a:solidFill>
                <a:latin typeface="Segoe UI"/>
              </a:rPr>
              <a:t>Verified tiers → a </a:t>
            </a:r>
            <a:r>
              <a:rPr sz="1500" b="1" i="0">
                <a:solidFill>
                  <a:srgbClr val="34D399"/>
                </a:solidFill>
                <a:latin typeface="Segoe UI"/>
              </a:rPr>
              <a:t>100 kWh home pays 29,530 RWF/month</a:t>
            </a:r>
            <a:r>
              <a:rPr sz="1500" b="0" i="0">
                <a:solidFill>
                  <a:srgbClr val="F1F5F9"/>
                </a:solidFill>
                <a:latin typeface="Segoe UI"/>
              </a:rPr>
              <a:t>.  Payback = kit cost ÷ monthly RWF saved.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039112"/>
            <a:ext cx="6620256" cy="4059936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148840"/>
          <a:ext cx="6400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23317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500" b="0" i="0">
                <a:solidFill>
                  <a:srgbClr val="F1F5F9"/>
                </a:solidFill>
                <a:latin typeface="Segoe UI"/>
              </a:rPr>
              <a:t>Core monitor: </a:t>
            </a:r>
            <a:r>
              <a:rPr sz="1500" b="1" i="0">
                <a:solidFill>
                  <a:srgbClr val="F1F5F9"/>
                </a:solidFill>
                <a:latin typeface="Segoe UI"/>
              </a:rPr>
              <a:t>~9 months @ 15%</a:t>
            </a:r>
            <a:r>
              <a:rPr sz="1500" b="0" i="0">
                <a:solidFill>
                  <a:srgbClr val="F1F5F9"/>
                </a:solidFill>
                <a:latin typeface="Segoe UI"/>
              </a:rPr>
              <a:t> savings.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500" b="0" i="0">
                <a:solidFill>
                  <a:srgbClr val="F1F5F9"/>
                </a:solidFill>
                <a:latin typeface="Segoe UI"/>
              </a:rPr>
              <a:t>Heavy users (200 kWh): </a:t>
            </a:r>
            <a:r>
              <a:rPr sz="1500" b="1" i="0">
                <a:solidFill>
                  <a:srgbClr val="F1F5F9"/>
                </a:solidFill>
                <a:latin typeface="Segoe UI"/>
              </a:rPr>
              <a:t>~6 months @ 10%</a:t>
            </a:r>
            <a:r>
              <a:rPr sz="1500" b="0" i="0">
                <a:solidFill>
                  <a:srgbClr val="F1F5F9"/>
                </a:solidFill>
                <a:latin typeface="Segoe UI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F1F5F9"/>
                </a:solidFill>
                <a:latin typeface="Segoe UI"/>
              </a:rPr>
              <a:t>&lt; 12 months</a:t>
            </a:r>
            <a:r>
              <a:rPr sz="1500" b="0" i="0">
                <a:solidFill>
                  <a:srgbClr val="F1F5F9"/>
                </a:solidFill>
                <a:latin typeface="Segoe UI"/>
              </a:rPr>
              <a:t> for tier-crossers ✓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500" b="0" i="0">
                <a:solidFill>
                  <a:srgbClr val="F1F5F9"/>
                </a:solidFill>
                <a:latin typeface="Segoe UI"/>
              </a:rPr>
              <a:t>Shown as a </a:t>
            </a:r>
            <a:r>
              <a:rPr sz="1500" b="1" i="0">
                <a:solidFill>
                  <a:srgbClr val="F1F5F9"/>
                </a:solidFill>
                <a:latin typeface="Segoe UI"/>
              </a:rPr>
              <a:t>range</a:t>
            </a:r>
            <a:r>
              <a:rPr sz="1500" b="0" i="0">
                <a:solidFill>
                  <a:srgbClr val="F1F5F9"/>
                </a:solidFill>
                <a:latin typeface="Segoe UI"/>
              </a:rPr>
              <a:t> — we don't fake one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04-business/capex-opex.md §4 — tariff engine unit-tested in 05-build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Market &amp; beachhead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1.946M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households on the grid;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84.6%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national electricity access.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Beachhead =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tier-crossing urban homes + landlords/compounds + SMEs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— they cross 310/369, own appliances, have Wi-Fi + smartphones, and feel the hike.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Mass-market &amp; lifeline homes = a later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social-impact tier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(grant-funded), not the paying entry.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01-research §2–3; 02-strategy §D1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Competition &amp; our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Sense (~$300, US, ML) · Emporia Vue · IoTaWatt (DIY) · Bidgely (utility B2B).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None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is localized: no RWF-tier logic, no Kinyarwanda, not Rwanda-priced or -serviced.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Moat = localization + tariff-aware AI + go-to-market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, at a Rwandan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01-research §4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Regulation &amp; compliance — a credibility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Behind-the-meter, non-invasive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— no utility permit to clip a CT on your own wiring;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we never touch the REG/EUCL meter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Board-side install by a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licensed electrician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(REG/RURA requirement); smart plugs are plug-and-play.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Data: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compliant with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Law 058/2021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; register with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NCSA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; consent + encryption + data minimization.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01-research §6 — RURA, REG, RwandaLII (verified, not assumed)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Go-to-market &amp; funding — the lean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$0 to win the capstone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(free cloud, open-source, ALU resources). Funding is for scaling.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Ladder: demo →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Hanga PitchFest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(50M RWF; RDB+MINICT+UNDP) → 3–5 kits + 1 pilot → larger grants (FEC 2026, Youth4Climate $30k, ClimaFii $70k, EEP Africa €200–500k) → production.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Channel: direct +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landlord/SME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partnerships + possible REG partnership.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04-business/fundraising-plan.md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Phase 1 (now):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whole-home CT + ESP32 (Wi-Fi) + plugs; tariff-aware analytics, alerts, rules; web app. (demoed today)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Phase 2: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multi-circuit "by-area" CT in the board (partner electrician); GSM option; landlord sub-metering.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Phase 3: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ML forecasting → anomaly detection → NILM disaggregation.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DIRECTION.md; 02-strategy §D2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Risks &amp; honest mitigations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645920"/>
          <a:ext cx="1042416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0"/>
                <a:gridCol w="5486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34D399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109728" marR="91440" marT="45720" marB="45720" anchor="ctr">
                    <a:solidFill>
                      <a:srgbClr val="161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34D399"/>
                          </a:solidFill>
                          <a:latin typeface="Segoe UI"/>
                        </a:rPr>
                        <a:t>Mitigation</a:t>
                      </a:r>
                    </a:p>
                  </a:txBody>
                  <a:tcPr marL="109728" marR="91440" marT="45720" marB="45720" anchor="ctr">
                    <a:solidFill>
                      <a:srgbClr val="161C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Savings % is an assumption (we show a 5–20% range)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Pilot will measure it; cite behavioral-feedback literature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Hardware funding (~$27–47 / kit)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$0 capstone path; bench PoC if free parts; Hanga/grants to scale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Wi-Fi penetration in target homes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Beachhead chosen for Wi-Fi/smartphone ownership; GSM in Phase 2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Hanga 2026 dates unconfirmed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</a:rPr>
                        <a:t>Monitoring official channels; prototype-ready now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Source: open questions in PROJECT-REPORT.md, 01-research, 04-business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Impact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Impact: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energy literacy, lower bills, less waste, reduced peak demand, climate — real and fundable.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●  </a:t>
            </a:r>
            <a:r>
              <a:rPr sz="1700" b="1" i="0">
                <a:solidFill>
                  <a:srgbClr val="F1F5F9"/>
                </a:solidFill>
                <a:latin typeface="Segoe UI"/>
              </a:rPr>
              <a:t>The ask:</a:t>
            </a:r>
            <a:r>
              <a:rPr sz="1700" b="0" i="0">
                <a:solidFill>
                  <a:srgbClr val="F1F5F9"/>
                </a:solidFill>
                <a:latin typeface="Segoe UI"/>
              </a:rPr>
              <a:t> capstone validation · a first pilot home/landlord · a path into Hanga PitchFest.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  <a:latin typeface="Segoe UI"/>
              </a:rPr>
              <a:t>GridSense AI — see your power, spend less.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Thank you — questions welcome (Q&amp;A defense rehearsed)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1F5F9"/>
                </a:solidFill>
                <a:latin typeface="Segoe UI"/>
              </a:rPr>
              <a:t>Appendix — Q&amp;A defense</a:t>
            </a:r>
          </a:p>
          <a:p>
            <a:r>
              <a:rPr sz="1300" b="0" i="1">
                <a:solidFill>
                  <a:srgbClr val="34D399"/>
                </a:solidFill>
                <a:latin typeface="Segoe UI"/>
              </a:rPr>
              <a:t>Rehearse these cold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799" cy="411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74720"/>
                <a:gridCol w="749807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34D399"/>
                          </a:solidFill>
                          <a:latin typeface="Segoe UI"/>
                        </a:rPr>
                        <a:t>If they ask…</a:t>
                      </a:r>
                    </a:p>
                  </a:txBody>
                  <a:tcPr marL="109728" marR="91440" marT="45720" marB="45720" anchor="ctr">
                    <a:solidFill>
                      <a:srgbClr val="161C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34D399"/>
                          </a:solidFill>
                          <a:latin typeface="Segoe UI"/>
                        </a:rPr>
                        <a:t>Answer</a:t>
                      </a:r>
                    </a:p>
                  </a:txBody>
                  <a:tcPr marL="109728" marR="91440" marT="45720" marB="45720" anchor="ctr">
                    <a:solidFill>
                      <a:srgbClr val="161C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Who actually pays?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Tier-crossers: urban homes, landlords, SMEs. Economics on slides 3, 9, 10.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Sense/Emporia exist.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None localized / RWF-tier-aware / Kinyarwanda / Rwanda-priced (11).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Is the AI real?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Tariff-aware + rules now; ML next; NILM later — no over-claim (6).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Did you build hardware?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Proven off-the-shelf; real ingestion contract; live demo (5, 7).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Will it touch the meter?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No — behind-the-meter, non-invasive; licensed electrician for board (12).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Privacy?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Law 058/2021; NCSA registration; consent + encryption (12).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How do you make money?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Device sale + optional subscription; landlord/SME tiers (13).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Where did the numbers come from?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1F5F9"/>
                          </a:solidFill>
                          <a:latin typeface="Segoe UI"/>
                        </a:rPr>
                        <a:t>Live Kigali retailers (RWF) + verified RURA tiers; savings as a range (8, 9).</a:t>
                      </a:r>
                    </a:p>
                  </a:txBody>
                  <a:tcPr marL="109728" marR="91440" marT="45720" marB="45720" anchor="ctr">
                    <a:solidFill>
                      <a:srgbClr val="0B0F1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Segoe UI"/>
              </a:rPr>
              <a:t>Full attack list: 02-strategy §E · sources in 01-research, 04-business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gridsense-ai-zeta.vercel.app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